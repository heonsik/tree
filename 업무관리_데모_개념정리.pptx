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2345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640080"/>
            <a:ext cx="2560320" cy="256032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관리 플랫폼 · 데모 MVP 개념 정리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 기반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위임 시스템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개인의 페르소나·기술스택을 조직 단위로 합성하고,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업무를 분석해 적합한 담당자에게 위임·추적하는 사내 업무 관리 페이지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2B5A5"/>
          </a:solidFill>
          <a:ln w="12700">
            <a:solidFill>
              <a:srgbClr val="12B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65960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507492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5074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0" y="507492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5074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507492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5074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검토용  ·  2026-06-24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PURPOSE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왜 만드는가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0F2440"/>
          </a:solidFill>
          <a:ln/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651760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회사의 업무를 “사람의 역량(페르소나)”에 맞춰 자동으로 배분하고, 위임 → 처리 → 컨펌까지 한 화면에서 추적하는 업무 관리 도구.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가치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5262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업무–사람 매칭을 사람이 일일이 찾지 않는다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전체 역량이 데이터로 쌓인다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누가·어디까지 했는지 항상 보인다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249424"/>
            <a:ext cx="621792" cy="62179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22494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1228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 자동 집계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24871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개인의 페르소나·기술스택이 파트→그룹→팀으로 합성되어 조직 역량 프로필이 만들어진다.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3346704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675888"/>
            <a:ext cx="621792" cy="62179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6758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담당자 추천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39136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업무 설명을 분석해 적합한 담당자를 추천하고, 복잡하면 업무를 자동 분할한다.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0" y="4773168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5102352"/>
            <a:ext cx="621792" cy="62179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5102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위임·컨펌 트리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53400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하향으로 위임하고 상향으로 컨펌한다. 최초 생성자 확인 시 업무가 종료된다.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구조 — 4계층 포함 관계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949440" cy="4297680"/>
          </a:xfrm>
          <a:prstGeom prst="roundRect">
            <a:avLst>
              <a:gd name="adj" fmla="val 2128"/>
            </a:avLst>
          </a:prstGeom>
          <a:solidFill>
            <a:srgbClr val="E8EF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(Team)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2697480"/>
            <a:ext cx="5943600" cy="3246120"/>
          </a:xfrm>
          <a:prstGeom prst="roundRect">
            <a:avLst>
              <a:gd name="adj" fmla="val 2817"/>
            </a:avLst>
          </a:prstGeom>
          <a:solidFill>
            <a:srgbClr val="D6E6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(Group)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520440"/>
            <a:ext cx="4937760" cy="2286000"/>
          </a:xfrm>
          <a:prstGeom prst="roundRect">
            <a:avLst>
              <a:gd name="adj" fmla="val 4000"/>
            </a:avLst>
          </a:prstGeom>
          <a:solidFill>
            <a:srgbClr val="BFE0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 (Part)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4297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(Individual)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4800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 + 기술스택 등록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295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최상위 단위. 여러 그룹으로 구성. 업무 생성·최종 컨펌의 출발점.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97180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392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파트로 구성. 팀에서 받은 업무를 파트로 위임.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406908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4489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개인으로 구성. 실제 실행 단위에 가장 가까움.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516636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5285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5586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유일하게 직접 정보를 입력하는 주체 — 페르소나·기술스택을 등록.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6327648"/>
            <a:ext cx="10058400" cy="438912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E0A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632764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7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가능  </a:t>
            </a:r>
            <a:pPr indent="0" marL="0">
              <a:buNone/>
            </a:pPr>
            <a:r>
              <a:rPr lang="en-US" sz="120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계층은 필요에 따라 더 늘릴 수 있다 — 단, 이번 MVP는 4계층(팀›그룹›파트›개인)까지만 구현한다.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PERSONA AGGREGATION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페르소나는 아래에서 위로 합성된다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개인이 입력한 페르소나·기술스택이 상위 단위의 페르소나를 자동 구성한다. (데모에서는 규칙 기반 Mock 합성)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92224" y="2788920"/>
            <a:ext cx="621792" cy="62179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7" name="Text 5"/>
          <p:cNvSpPr/>
          <p:nvPr/>
        </p:nvSpPr>
        <p:spPr>
          <a:xfrm>
            <a:off x="1792224" y="27889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995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 + 기술스택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등록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55848" y="3538728"/>
            <a:ext cx="347472" cy="329184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11" name="Shape 9"/>
          <p:cNvSpPr/>
          <p:nvPr/>
        </p:nvSpPr>
        <p:spPr>
          <a:xfrm>
            <a:off x="3721608" y="251460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788920"/>
            <a:ext cx="621792" cy="62179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7889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58768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 페르소나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58768" y="3995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개인들의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역량을 합성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3538728"/>
            <a:ext cx="347472" cy="329184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74536" y="251460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0" y="2788920"/>
            <a:ext cx="621792" cy="621792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7889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696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페르소나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11696" y="3995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파트들의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프로필을 합성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61704" y="3538728"/>
            <a:ext cx="347472" cy="329184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23" name="Shape 21"/>
          <p:cNvSpPr/>
          <p:nvPr/>
        </p:nvSpPr>
        <p:spPr>
          <a:xfrm>
            <a:off x="9427464" y="251460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351008" y="2788920"/>
            <a:ext cx="621792" cy="621792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25" name="Text 23"/>
          <p:cNvSpPr/>
          <p:nvPr/>
        </p:nvSpPr>
        <p:spPr>
          <a:xfrm>
            <a:off x="10351008" y="27889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64624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페르소나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64624" y="3995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그룹의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총합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51206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6F6F4"/>
          </a:solidFill>
          <a:ln w="12700">
            <a:solidFill>
              <a:srgbClr val="12B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285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합성 (bottom-up)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97280" y="5632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하위에 변화가 생기면 상위 페르소나가 자동으로 갱신된다.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512064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3E0"/>
          </a:solidFill>
          <a:ln w="12700">
            <a:solidFill>
              <a:srgbClr val="E0A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7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보정 (override)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92240" y="56327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파트장·그룹장·팀장은 자기 단위의 페르소나를 직접 수정·보완할 수 있다.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시나리오 — 전체 흐름 한눈에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2267712"/>
            <a:ext cx="548640" cy="548640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생성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61288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자연어로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업무를 설명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2775204"/>
            <a:ext cx="310896" cy="256032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20116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267712"/>
            <a:ext cx="548640" cy="5486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41848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추천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974336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페르소나 분석 →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추천·업무 분할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47304" y="2775204"/>
            <a:ext cx="310896" cy="256032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94776" y="20116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50808" y="2267712"/>
            <a:ext cx="548640" cy="5486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18" name="Text 16"/>
          <p:cNvSpPr/>
          <p:nvPr/>
        </p:nvSpPr>
        <p:spPr>
          <a:xfrm>
            <a:off x="875080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54896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할당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787384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추천대로 또는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수정해서 배정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2976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24712" y="4553712"/>
            <a:ext cx="548640" cy="5486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1124712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28800" y="4590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하향 위임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61288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그룹장→파트장→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파트원으로 전달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34256" y="5061204"/>
            <a:ext cx="310896" cy="256032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27" name="Shape 25"/>
          <p:cNvSpPr/>
          <p:nvPr/>
        </p:nvSpPr>
        <p:spPr>
          <a:xfrm>
            <a:off x="4681728" y="42976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4553712"/>
            <a:ext cx="548640" cy="5486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41848" y="4590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974336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처리 또는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툴·Agent 할당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47304" y="5061204"/>
            <a:ext cx="310896" cy="256032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33" name="Shape 31"/>
          <p:cNvSpPr/>
          <p:nvPr/>
        </p:nvSpPr>
        <p:spPr>
          <a:xfrm>
            <a:off x="8494776" y="42976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750808" y="4553712"/>
            <a:ext cx="548640" cy="54864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5" name="Text 33"/>
          <p:cNvSpPr/>
          <p:nvPr/>
        </p:nvSpPr>
        <p:spPr>
          <a:xfrm>
            <a:off x="8750808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54896" y="4590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상향 컨펌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787384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→ 상위 컨펌 →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확인 시 종료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081260" y="3867912"/>
            <a:ext cx="256032" cy="356616"/>
          </a:xfrm>
          <a:prstGeom prst="downArrow">
            <a:avLst/>
          </a:prstGeom>
          <a:solidFill>
            <a:srgbClr val="2E6F95"/>
          </a:solidFill>
          <a:ln/>
        </p:spPr>
      </p:sp>
      <p:sp>
        <p:nvSpPr>
          <p:cNvPr id="39" name="Text 3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· STEP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업무 생성 → LLM 담당자 추천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663440" cy="4160520"/>
          </a:xfrm>
          <a:prstGeom prst="roundRect">
            <a:avLst>
              <a:gd name="adj" fmla="val 2637"/>
            </a:avLst>
          </a:prstGeom>
          <a:solidFill>
            <a:srgbClr val="0F2440"/>
          </a:solidFill>
          <a:ln/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76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생성 (팀장)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6974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1B355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90779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 분기 신규 결제 모듈을 붙이고, 관련 랜딩페이지 개편과 데이터 마이그레이션까지 함께 진행해야 함.”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50749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2B5A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분석 요청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96128" y="3749040"/>
            <a:ext cx="548640" cy="457200"/>
          </a:xfrm>
          <a:prstGeom prst="rightArrow">
            <a:avLst/>
          </a:prstGeom>
          <a:solidFill>
            <a:srgbClr val="2E6F95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38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결과 — 업무 자동 분할 + 담당자 매칭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42316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606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E8C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606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25694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모듈 연동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30266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F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A그룹 › 결제파트 › 김결제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66960" y="3026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Node·결제연동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63016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8130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E8C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813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3776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랜딩페이지 개편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46520" y="4233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F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B그룹 › 프론트파트 › 이프론트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6960" y="4233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React·UI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837176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5020056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200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4983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마이그레이션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46520" y="5440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F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A그룹 › 데이터파트 › 박데이터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SQL·ETL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5989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팀장은 추천을 그대로 할당하거나, 담당자를 직접 수정해 배정한다.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· STEP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할당·위임 — 트리는 가이드, 배정은 자유롭게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기본은 트리(팀장→그룹장→파트장→파트원)지만, 단계를 건너뛰거나 자기 선에서 끝낼 수도 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20574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40280" y="2185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40280" y="25511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생성·최종 컨펌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926080"/>
            <a:ext cx="0" cy="201168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3127248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40280" y="36210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파트로 위임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95928"/>
            <a:ext cx="0" cy="201168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4197096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BFE0DC"/>
          </a:solidFill>
          <a:ln w="12700">
            <a:solidFill>
              <a:srgbClr val="BFE0DC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4325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40280" y="4690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파트원에 배정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5065776"/>
            <a:ext cx="0" cy="201168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5266944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4028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40280" y="5760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처리 /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17320" y="2491740"/>
            <a:ext cx="731520" cy="0"/>
          </a:xfrm>
          <a:prstGeom prst="line">
            <a:avLst/>
          </a:prstGeom>
          <a:noFill/>
          <a:ln w="19050">
            <a:solidFill>
              <a:srgbClr val="E0A04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417320" y="2491740"/>
            <a:ext cx="0" cy="3209544"/>
          </a:xfrm>
          <a:prstGeom prst="line">
            <a:avLst/>
          </a:prstGeom>
          <a:noFill/>
          <a:ln w="19050">
            <a:solidFill>
              <a:srgbClr val="E0A04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463040" y="5568696"/>
            <a:ext cx="685800" cy="274320"/>
          </a:xfrm>
          <a:prstGeom prst="rightArrow">
            <a:avLst/>
          </a:prstGeom>
          <a:solidFill>
            <a:srgbClr val="E0A0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749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57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다이렉트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57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14884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386584"/>
            <a:ext cx="457200" cy="45720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2286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순차 위임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26243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그룹장 → 파트장 → 파트원으로 한 단계씩 내려보낸다 (기본형).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3209544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447288"/>
            <a:ext cx="457200" cy="457200"/>
          </a:xfrm>
          <a:prstGeom prst="ellipse">
            <a:avLst/>
          </a:prstGeom>
          <a:solidFill>
            <a:srgbClr val="E0A04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3346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스킵 · 다이렉트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36850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중간을 건너뛰고 파트원에게 바로 할당할 수 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4270248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507992"/>
            <a:ext cx="457200" cy="45720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5160" y="44074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위임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95160" y="47457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그룹장만 지정하고, 그 아래 누구에게 줄지는 그룹장이 결정한다.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26480" y="5330952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5568696"/>
            <a:ext cx="457200" cy="45720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54681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선에서 처리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95160" y="5806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관리자가 하위에 내리지 않고 본인이 직접 해결·완료한다.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· STEP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완료 &amp; 상향 컨펌 — 위로 거슬러 마감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514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2B5A5"/>
          </a:solidFill>
          <a:ln w="12700">
            <a:solidFill>
              <a:srgbClr val="12B5A5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3474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입력 후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처리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7288" y="3401568"/>
            <a:ext cx="374904" cy="329184"/>
          </a:xfrm>
          <a:prstGeom prst="rightArrow">
            <a:avLst/>
          </a:prstGeom>
          <a:solidFill>
            <a:srgbClr val="0E8C81"/>
          </a:solidFill>
          <a:ln/>
        </p:spPr>
      </p:sp>
      <p:sp>
        <p:nvSpPr>
          <p:cNvPr id="8" name="Shape 6"/>
          <p:cNvSpPr/>
          <p:nvPr/>
        </p:nvSpPr>
        <p:spPr>
          <a:xfrm>
            <a:off x="3886200" y="2514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BFE0DC"/>
          </a:solidFill>
          <a:ln w="12700">
            <a:solidFill>
              <a:srgbClr val="BFE0DC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7640" y="3474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64808" y="3401568"/>
            <a:ext cx="374904" cy="329184"/>
          </a:xfrm>
          <a:prstGeom prst="rightArrow">
            <a:avLst/>
          </a:prstGeom>
          <a:solidFill>
            <a:srgbClr val="0E8C81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3720" y="2514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3474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취합 후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482328" y="3401568"/>
            <a:ext cx="374904" cy="329184"/>
          </a:xfrm>
          <a:prstGeom prst="rightArrow">
            <a:avLst/>
          </a:prstGeom>
          <a:solidFill>
            <a:srgbClr val="0E8C81"/>
          </a:solidFill>
          <a:ln/>
        </p:spPr>
      </p:sp>
      <p:sp>
        <p:nvSpPr>
          <p:cNvPr id="16" name="Shape 14"/>
          <p:cNvSpPr/>
          <p:nvPr/>
        </p:nvSpPr>
        <p:spPr>
          <a:xfrm>
            <a:off x="9921240" y="2514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1268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12680" y="3474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컨펌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종료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 상향 컨펌 (bottom-up confirm) — 각 관리자가 같은 방식으로 컨펌하며, 최초 생성자(팀장) 확인이 모두 끝나면 테스크가 종료된다.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테스크는 동시에 여러 개가 각자의 위임·컨펌 트리를 갖고 병렬로 진행된다.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관점 — 위임 트리·진행 현황 추적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본인이 만든 테스크를 클릭하면, 어떤 업무가 어떤 트리를 타고 누구에게 갔는지와 각 진행 상태를 한눈에 본다.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EAF1F8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677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테스크: 신규 결제 모듈 프로젝트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· 김팀장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0" y="231343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0" y="23134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25880" y="2871216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9443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분할1 · 결제 모듈 연동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A그룹 김결제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299008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E8C81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29900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3547872"/>
            <a:ext cx="7315200" cy="603504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6210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└ Agent 처리 결과 컨펌 대기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3621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0" y="366674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C991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36667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5880" y="4224528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2976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분할2 · 랜딩페이지 개편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B그룹 이프론트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0" y="434340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43434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901184"/>
            <a:ext cx="7315200" cy="603504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49743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└ 직접 처리 중 (60%)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0" y="4974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이프론트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0" y="5020056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0" y="5020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25880" y="5577840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565099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분할3 · 데이터 마이그레이션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0" y="5650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A그룹 박데이터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26880" y="569671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E8C81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0" y="56967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15600" y="219456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5276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652760" y="2697480"/>
            <a:ext cx="201168" cy="20116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38" name="Text 36"/>
          <p:cNvSpPr/>
          <p:nvPr/>
        </p:nvSpPr>
        <p:spPr>
          <a:xfrm>
            <a:off x="10927080" y="2651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652760" y="3108960"/>
            <a:ext cx="201168" cy="201168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40" name="Text 38"/>
          <p:cNvSpPr/>
          <p:nvPr/>
        </p:nvSpPr>
        <p:spPr>
          <a:xfrm>
            <a:off x="10927080" y="30632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652760" y="3520440"/>
            <a:ext cx="201168" cy="201168"/>
          </a:xfrm>
          <a:prstGeom prst="ellipse">
            <a:avLst/>
          </a:prstGeom>
          <a:solidFill>
            <a:srgbClr val="C9912E"/>
          </a:solidFill>
          <a:ln/>
        </p:spPr>
      </p:sp>
      <p:sp>
        <p:nvSpPr>
          <p:cNvPr id="42" name="Text 40"/>
          <p:cNvSpPr/>
          <p:nvPr/>
        </p:nvSpPr>
        <p:spPr>
          <a:xfrm>
            <a:off x="10927080" y="3474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MVP 범위 — 합의된 결정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형태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5237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정리 문서 (이 PPTX)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개념을 맞춘 뒤, 동작하는 웹 앱으로 구현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추천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237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· 규칙 기반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3063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기술스택 매칭 등 규칙으로 추천 흉내. API 키 불필요·항상 동작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조직/구성원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4897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시드 데이터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팀·그룹·파트·구성원 수십 명을 미리 채워 바로 시연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8862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44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저장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4897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C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localStorage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2940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없이 저장. 새로고침해도 유지·설치 부담 없음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1234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개념이 맞나요?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아래를 확인해 주시면, 동일한 구조로 동작하는 데모 웹 앱 구현을 시작하겠습니다.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1363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4계층(팀›그룹›파트›개인)과 페르소나 상향 합성 방향이 맞는지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9136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흐름(생성→LLM추천→하향위임→처리→상향컨펌→종료)이 맞는지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709160"/>
            <a:ext cx="457200" cy="457200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6908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범위(Mock LLM · 가상 시드 · localStorage)로 진행해도 되는지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추가로 보고 싶은 화면·역할(예: 개인 페르소나 등록 화면)이 있는지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검토용  ·  2026-06-24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페르소나 기반 업무 위임 시스템 — 데모 MVP 개념</dc:title>
  <dc:subject>PptxGenJS Presentation</dc:subject>
  <dc:creator>DOA Demo</dc:creator>
  <cp:lastModifiedBy>DOA Demo</cp:lastModifiedBy>
  <cp:revision>1</cp:revision>
  <dcterms:created xsi:type="dcterms:W3CDTF">2026-06-24T08:24:35Z</dcterms:created>
  <dcterms:modified xsi:type="dcterms:W3CDTF">2026-06-24T08:24:35Z</dcterms:modified>
</cp:coreProperties>
</file>